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8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9a2f9a2ead48e7" /><Relationship Type="http://schemas.openxmlformats.org/officeDocument/2006/relationships/extended-properties" Target="/docProps/app.xml" Id="Rc576a76f3b5d40f1" /><Relationship Type="http://schemas.openxmlformats.org/officeDocument/2006/relationships/officeDocument" Target="/ppt/presentation.xml" Id="Rf79a5a3dd39847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2964c7f6ec4137"/>
  </p:sldMasterIdLst>
  <p:notesMasterIdLst>
    <p:notesMasterId xmlns:r="http://schemas.openxmlformats.org/officeDocument/2006/relationships" r:id="R57d4be429e434f2a"/>
  </p:notesMasterIdLst>
  <p:sldIdLst>
    <p:sldId xmlns:r="http://schemas.openxmlformats.org/officeDocument/2006/relationships" id="256" r:id="R62235cd7a4a24b5d"/>
    <p:sldId xmlns:r="http://schemas.openxmlformats.org/officeDocument/2006/relationships" id="257" r:id="Rae9ceef199dc4ea3"/>
    <p:sldId xmlns:r="http://schemas.openxmlformats.org/officeDocument/2006/relationships" id="258" r:id="R5089df10f576427c"/>
    <p:sldId xmlns:r="http://schemas.openxmlformats.org/officeDocument/2006/relationships" id="259" r:id="Rf89603c6f8a94961"/>
    <p:sldId xmlns:r="http://schemas.openxmlformats.org/officeDocument/2006/relationships" id="260" r:id="R03fde01cef7746ad"/>
    <p:sldId xmlns:r="http://schemas.openxmlformats.org/officeDocument/2006/relationships" id="261" r:id="R1212089c70414b53"/>
    <p:sldId xmlns:r="http://schemas.openxmlformats.org/officeDocument/2006/relationships" id="262" r:id="R1d6d24e3afa14a71"/>
    <p:sldId xmlns:r="http://schemas.openxmlformats.org/officeDocument/2006/relationships" id="263" r:id="R2ceb8de596c140c8"/>
    <p:sldId xmlns:r="http://schemas.openxmlformats.org/officeDocument/2006/relationships" id="264" r:id="R6503239b9c80421e"/>
    <p:sldId xmlns:r="http://schemas.openxmlformats.org/officeDocument/2006/relationships" id="265" r:id="R9e46147bcd2b4d40"/>
    <p:sldId xmlns:r="http://schemas.openxmlformats.org/officeDocument/2006/relationships" id="266" r:id="R24dad79f75274ce4"/>
    <p:sldId xmlns:r="http://schemas.openxmlformats.org/officeDocument/2006/relationships" id="267" r:id="Re8525c0613dc4601"/>
    <p:sldId xmlns:r="http://schemas.openxmlformats.org/officeDocument/2006/relationships" id="268" r:id="R8fa3d6f31a494b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865cb4bd964a43" /><Relationship Type="http://schemas.openxmlformats.org/officeDocument/2006/relationships/slideMaster" Target="/ppt/slideMasters/slideMaster1.xml" Id="R812964c7f6ec4137" /><Relationship Type="http://schemas.openxmlformats.org/officeDocument/2006/relationships/notesMaster" Target="/ppt/notesMasters/notesMaster1.xml" Id="R57d4be429e434f2a" /><Relationship Type="http://schemas.openxmlformats.org/officeDocument/2006/relationships/presProps" Target="/ppt/presProps.xml" Id="Re6bbe88ed5c34377" /><Relationship Type="http://schemas.openxmlformats.org/officeDocument/2006/relationships/tableStyles" Target="/ppt/tableStyles.xml" Id="Rb4fe349f37554628" /><Relationship Type="http://schemas.openxmlformats.org/officeDocument/2006/relationships/slide" Target="/ppt/slides/slide1.xml" Id="R62235cd7a4a24b5d" /><Relationship Type="http://schemas.openxmlformats.org/officeDocument/2006/relationships/slide" Target="/ppt/slides/slide2.xml" Id="Rae9ceef199dc4ea3" /><Relationship Type="http://schemas.openxmlformats.org/officeDocument/2006/relationships/slide" Target="/ppt/slides/slide3.xml" Id="R5089df10f576427c" /><Relationship Type="http://schemas.openxmlformats.org/officeDocument/2006/relationships/slide" Target="/ppt/slides/slide4.xml" Id="Rf89603c6f8a94961" /><Relationship Type="http://schemas.openxmlformats.org/officeDocument/2006/relationships/slide" Target="/ppt/slides/slide5.xml" Id="R03fde01cef7746ad" /><Relationship Type="http://schemas.openxmlformats.org/officeDocument/2006/relationships/slide" Target="/ppt/slides/slide6.xml" Id="R1212089c70414b53" /><Relationship Type="http://schemas.openxmlformats.org/officeDocument/2006/relationships/slide" Target="/ppt/slides/slide7.xml" Id="R1d6d24e3afa14a71" /><Relationship Type="http://schemas.openxmlformats.org/officeDocument/2006/relationships/slide" Target="/ppt/slides/slide8.xml" Id="R2ceb8de596c140c8" /><Relationship Type="http://schemas.openxmlformats.org/officeDocument/2006/relationships/slide" Target="/ppt/slides/slide9.xml" Id="R6503239b9c80421e" /><Relationship Type="http://schemas.openxmlformats.org/officeDocument/2006/relationships/slide" Target="/ppt/slides/slide10.xml" Id="R9e46147bcd2b4d40" /><Relationship Type="http://schemas.openxmlformats.org/officeDocument/2006/relationships/slide" Target="/ppt/slides/slide11.xml" Id="R24dad79f75274ce4" /><Relationship Type="http://schemas.openxmlformats.org/officeDocument/2006/relationships/slide" Target="/ppt/slides/slide12.xml" Id="Re8525c0613dc4601" /><Relationship Type="http://schemas.openxmlformats.org/officeDocument/2006/relationships/slide" Target="/ppt/slides/slide13.xml" Id="R8fa3d6f31a494b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f1a8aa73d340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7f7feaf2964b9a" /><Relationship Type="http://schemas.openxmlformats.org/officeDocument/2006/relationships/notesMaster" Target="/ppt/notesMasters/notesMaster1.xml" Id="R71c77966e27d43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3c8647bcf846ef" /><Relationship Type="http://schemas.openxmlformats.org/officeDocument/2006/relationships/notesMaster" Target="/ppt/notesMasters/notesMaster1.xml" Id="Rcdfc38e6d23547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b7ffde58dd4572" /><Relationship Type="http://schemas.openxmlformats.org/officeDocument/2006/relationships/notesMaster" Target="/ppt/notesMasters/notesMaster1.xml" Id="R22ad98261f6243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75ad8297a24ddc" /><Relationship Type="http://schemas.openxmlformats.org/officeDocument/2006/relationships/notesMaster" Target="/ppt/notesMasters/notesMaster1.xml" Id="R89040a98fba44c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e9a0829d234187" /><Relationship Type="http://schemas.openxmlformats.org/officeDocument/2006/relationships/notesMaster" Target="/ppt/notesMasters/notesMaster1.xml" Id="R6b87e1f79bb84a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42714f5df24f1c" /><Relationship Type="http://schemas.openxmlformats.org/officeDocument/2006/relationships/notesMaster" Target="/ppt/notesMasters/notesMaster1.xml" Id="R234746bf6c2c45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116c9caebf45b3" /><Relationship Type="http://schemas.openxmlformats.org/officeDocument/2006/relationships/notesMaster" Target="/ppt/notesMasters/notesMaster1.xml" Id="Rb9f3d1abbdad4e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32100004bc43e5" /><Relationship Type="http://schemas.openxmlformats.org/officeDocument/2006/relationships/notesMaster" Target="/ppt/notesMasters/notesMaster1.xml" Id="R23a7d22613d94d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673b45912046b9" /><Relationship Type="http://schemas.openxmlformats.org/officeDocument/2006/relationships/notesMaster" Target="/ppt/notesMasters/notesMaster1.xml" Id="R4571303c296743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df6eca4e264b4c" /><Relationship Type="http://schemas.openxmlformats.org/officeDocument/2006/relationships/notesMaster" Target="/ppt/notesMasters/notesMaster1.xml" Id="R16a44fd6497f45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54a1374f2b446f" /><Relationship Type="http://schemas.openxmlformats.org/officeDocument/2006/relationships/notesMaster" Target="/ppt/notesMasters/notesMaster1.xml" Id="R0aa58f19606b4a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368dd712444ecd" /><Relationship Type="http://schemas.openxmlformats.org/officeDocument/2006/relationships/notesMaster" Target="/ppt/notesMasters/notesMaster1.xml" Id="Rdc8748ea326647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275534f7e4405d" /><Relationship Type="http://schemas.openxmlformats.org/officeDocument/2006/relationships/notesMaster" Target="/ppt/notesMasters/notesMaster1.xml" Id="R8b95a95f1f774b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slide for the portfolio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slide introduces the project scope and explains why the analysis uses weekly revenue rather than daily or monthly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shows the modeling work before analysis. The main defense point is separating grains before calculating KPIs.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data: outputs/data/weekly_revenue_decomposition_main_period.csv. Index values are rounded from the four ALL weekly 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Active User-Weeks are not four-week unique users. They are weekly user observations across the main period.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data: outputs/data/segment_week_first_session_funnel_main_period.csv.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Home landing includes '/', '/store.html', and Home / Google Online Store page titles.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Qualified Home is a diagnostic post-behavior segment, not the A/B test eligibility population.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data: docs/analysis_notes/03_home_discovery_why_hypothesis.md and sql/analysis/03_home_discovery_why.sql.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separates observational evidence from the causal question tested by the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analysis uses Qualified Home for diagnosis, while the experiment uses all eligible Home Landing first sessions for ITT.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data based on observed Home Landing baseline. Required sample is the minimum for MDE detection; 24,000 per variant reflects the four-week traffic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Modeled revenue opportunity uses observed downstream baseline assumptions and should not be presented as direct revenue lift from a real production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78e67083d040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88865ce5b44b60" /><Relationship Type="http://schemas.openxmlformats.org/officeDocument/2006/relationships/slideLayout" Target="/ppt/slideLayouts/slideLayout1.xml" Id="Rb3be21e1619947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be21e1619947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4e495888e4d79" /><Relationship Type="http://schemas.openxmlformats.org/officeDocument/2006/relationships/notesSlide" Target="/ppt/notesSlides/notesSlide1.xml" Id="R4cdc8609808f4d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8923af03c4e63" /><Relationship Type="http://schemas.openxmlformats.org/officeDocument/2006/relationships/notesSlide" Target="/ppt/notesSlides/notesSlide2.xml" Id="R470642eb7e5c4d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70ce5a3254076" /><Relationship Type="http://schemas.openxmlformats.org/officeDocument/2006/relationships/notesSlide" Target="/ppt/notesSlides/notesSlide3.xml" Id="Ra5a82e27e22545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9e10233814832" /><Relationship Type="http://schemas.openxmlformats.org/officeDocument/2006/relationships/chart" Target="/ppt/slides/charts/chart1.xml" Id="R68e4a936509448e6" /><Relationship Type="http://schemas.openxmlformats.org/officeDocument/2006/relationships/notesSlide" Target="/ppt/notesSlides/notesSlide4.xml" Id="R167024b65e484b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3b0207bfc4832" /><Relationship Type="http://schemas.openxmlformats.org/officeDocument/2006/relationships/chart" Target="/ppt/slides/charts/chart2.xml" Id="Rddb76ff15f7e4e45" /><Relationship Type="http://schemas.openxmlformats.org/officeDocument/2006/relationships/notesSlide" Target="/ppt/notesSlides/notesSlide5.xml" Id="R5ea992298ffb41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a498e8fe94fe4" /><Relationship Type="http://schemas.openxmlformats.org/officeDocument/2006/relationships/chart" Target="/ppt/slides/charts/chart3.xml" Id="R124eaca71b7646ef" /><Relationship Type="http://schemas.openxmlformats.org/officeDocument/2006/relationships/notesSlide" Target="/ppt/notesSlides/notesSlide6.xml" Id="Rce6652460db145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615d541b54c86" /><Relationship Type="http://schemas.openxmlformats.org/officeDocument/2006/relationships/chart" Target="/ppt/slides/charts/chart4.xml" Id="R0e493167b5ee4f9e" /><Relationship Type="http://schemas.openxmlformats.org/officeDocument/2006/relationships/notesSlide" Target="/ppt/notesSlides/notesSlide7.xml" Id="R404da7943fae42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d7e2f9385482c" /><Relationship Type="http://schemas.openxmlformats.org/officeDocument/2006/relationships/chart" Target="/ppt/slides/charts/chart5.xml" Id="R16bd773460414602" /><Relationship Type="http://schemas.openxmlformats.org/officeDocument/2006/relationships/chart" Target="/ppt/slides/charts/chart6.xml" Id="R55ebec72575b410d" /><Relationship Type="http://schemas.openxmlformats.org/officeDocument/2006/relationships/notesSlide" Target="/ppt/notesSlides/notesSlide8.xml" Id="Rd14a094fda244f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409de0fca4523" /><Relationship Type="http://schemas.openxmlformats.org/officeDocument/2006/relationships/chart" Target="/ppt/slides/charts/chart7.xml" Id="R7d520cf777474220" /><Relationship Type="http://schemas.openxmlformats.org/officeDocument/2006/relationships/notesSlide" Target="/ppt/notesSlides/notesSlide9.xml" Id="Rfac96fcfdda449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f3498236249a7" /><Relationship Type="http://schemas.openxmlformats.org/officeDocument/2006/relationships/notesSlide" Target="/ppt/notesSlides/notesSlide10.xml" Id="R3976eb4db42f4c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a62262604470a" /><Relationship Type="http://schemas.openxmlformats.org/officeDocument/2006/relationships/notesSlide" Target="/ppt/notesSlides/notesSlide11.xml" Id="R9b1a8251d80c42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996fae41d457c" /><Relationship Type="http://schemas.openxmlformats.org/officeDocument/2006/relationships/chart" Target="/ppt/slides/charts/chart8.xml" Id="Rf3087e77bc7c4b95" /><Relationship Type="http://schemas.openxmlformats.org/officeDocument/2006/relationships/notesSlide" Target="/ppt/notesSlides/notesSlide12.xml" Id="R13761b66be764d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2570355174178" /><Relationship Type="http://schemas.openxmlformats.org/officeDocument/2006/relationships/notesSlide" Target="/ppt/notesSlides/notesSlide13.xml" Id="R0a17f133d50e449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Revenue</c:v>
          </c:tx>
          <c:spPr>
            <a:ln xmlns:a="http://schemas.openxmlformats.org/drawingml/2006/main" w="28575">
              <a:solidFill>
                <a:srgbClr val="2D6CDF"/>
              </a:solidFill>
              <a:prstDash val="solid"/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11/23</c:v>
                </c:pt>
                <c:pt idx="1">
                  <c:v>11/30</c:v>
                </c:pt>
                <c:pt idx="2">
                  <c:v>12/07</c:v>
                </c:pt>
                <c:pt idx="3">
                  <c:v>12/14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100</c:v>
                </c:pt>
                <c:pt idx="1">
                  <c:v>90</c:v>
                </c:pt>
                <c:pt idx="2">
                  <c:v>125</c:v>
                </c:pt>
                <c:pt idx="3">
                  <c:v>99</c:v>
                </c:pt>
              </c:numCache>
            </c:numRef>
          </c:val>
        </c:ser>
        <c:ser>
          <c:idx val="1"/>
          <c:order val="1"/>
          <c:tx>
            <c:v>WAU</c:v>
          </c:tx>
          <c:spPr>
            <a:ln xmlns:a="http://schemas.openxmlformats.org/drawingml/2006/main" w="28575">
              <a:solidFill>
                <a:srgbClr val="0F9F8F"/>
              </a:solidFill>
              <a:prstDash val="solid"/>
            </a:ln>
          </c:spPr>
          <c:marker>
            <c:symbol val="none"/>
          </c:marker>
          <c:cat>
            <c:strRef>
              <c:f>'Chart Data'!$C$2:$C$5</c:f>
              <c:strCache>
                <c:ptCount val="4"/>
                <c:pt idx="0">
                  <c:v>11/23</c:v>
                </c:pt>
                <c:pt idx="1">
                  <c:v>11/30</c:v>
                </c:pt>
                <c:pt idx="2">
                  <c:v>12/07</c:v>
                </c:pt>
                <c:pt idx="3">
                  <c:v>12/14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100</c:v>
                </c:pt>
                <c:pt idx="1">
                  <c:v>111</c:v>
                </c:pt>
                <c:pt idx="2">
                  <c:v>142</c:v>
                </c:pt>
                <c:pt idx="3">
                  <c:v>124</c:v>
                </c:pt>
              </c:numCache>
            </c:numRef>
          </c:val>
        </c:ser>
        <c:ser>
          <c:idx val="2"/>
          <c:order val="2"/>
          <c:tx>
            <c:v>Buyer CVR</c:v>
          </c:tx>
          <c:spPr>
            <a:ln xmlns:a="http://schemas.openxmlformats.org/drawingml/2006/main" w="28575">
              <a:solidFill>
                <a:srgbClr val="E76F51"/>
              </a:solidFill>
              <a:prstDash val="solid"/>
            </a:ln>
          </c:spPr>
          <c:marker>
            <c:symbol val="none"/>
          </c:marker>
          <c:cat>
            <c:strRef>
              <c:f>'Chart Data'!$E$2:$E$5</c:f>
              <c:strCache>
                <c:ptCount val="4"/>
                <c:pt idx="0">
                  <c:v>11/23</c:v>
                </c:pt>
                <c:pt idx="1">
                  <c:v>11/30</c:v>
                </c:pt>
                <c:pt idx="2">
                  <c:v>12/07</c:v>
                </c:pt>
                <c:pt idx="3">
                  <c:v>12/14</c:v>
                </c:pt>
              </c:strCache>
            </c:strRef>
          </c:cat>
          <c:val>
            <c:numRef>
              <c:f>'Chart Data'!$F$2:$F$5</c:f>
              <c:numCache>
                <c:formatCode>0</c:formatCode>
                <c:ptCount val="4"/>
                <c:pt idx="0">
                  <c:v>100</c:v>
                </c:pt>
                <c:pt idx="1">
                  <c:v>104</c:v>
                </c:pt>
                <c:pt idx="2">
                  <c:v>104</c:v>
                </c:pt>
                <c:pt idx="3">
                  <c:v>85</c:v>
                </c:pt>
              </c:numCache>
            </c:numRef>
          </c:val>
        </c:ser>
        <c:ser>
          <c:idx val="3"/>
          <c:order val="3"/>
          <c:tx>
            <c:v>ARPPU</c:v>
          </c:tx>
          <c:spPr>
            <a:ln xmlns:a="http://schemas.openxmlformats.org/drawingml/2006/main" w="28575">
              <a:solidFill>
                <a:srgbClr val="E5A100"/>
              </a:solidFill>
              <a:prstDash val="solid"/>
            </a:ln>
          </c:spPr>
          <c:marker>
            <c:symbol val="none"/>
          </c:marker>
          <c:cat>
            <c:strRef>
              <c:f>'Chart Data'!$G$2:$G$5</c:f>
              <c:strCache>
                <c:ptCount val="4"/>
                <c:pt idx="0">
                  <c:v>11/23</c:v>
                </c:pt>
                <c:pt idx="1">
                  <c:v>11/30</c:v>
                </c:pt>
                <c:pt idx="2">
                  <c:v>12/07</c:v>
                </c:pt>
                <c:pt idx="3">
                  <c:v>12/14</c:v>
                </c:pt>
              </c:strCache>
            </c:strRef>
          </c:cat>
          <c:val>
            <c:numRef>
              <c:f>'Chart Data'!$H$2:$H$5</c:f>
              <c:numCache>
                <c:formatCode>0</c:formatCode>
                <c:ptCount val="4"/>
                <c:pt idx="0">
                  <c:v>100</c:v>
                </c:pt>
                <c:pt idx="1">
                  <c:v>78</c:v>
                </c:pt>
                <c:pt idx="2">
                  <c:v>84</c:v>
                </c:pt>
                <c:pt idx="3">
                  <c:v>94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A6678"/>
              </a:solidFill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Active User-Weeks Share</c:v>
          </c:tx>
          <c:spPr>
            <a:solidFill xmlns:a="http://schemas.openxmlformats.org/drawingml/2006/main">
              <a:srgbClr val="2D6CDF"/>
            </a:solidFill>
          </c:spPr>
          <c:cat>
            <c:strRef>
              <c:f>'Chart Data'!$A$2:$A$4</c:f>
              <c:strCache>
                <c:ptCount val="3"/>
                <c:pt idx="0">
                  <c:v>NAU</c:v>
                </c:pt>
                <c:pt idx="1">
                  <c:v>EAU</c:v>
                </c:pt>
                <c:pt idx="2">
                  <c:v>RAU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0.904</c:v>
                </c:pt>
                <c:pt idx="1">
                  <c:v>0.057</c:v>
                </c:pt>
                <c:pt idx="2">
                  <c:v>0.039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NAU</c:v>
          </c:tx>
          <c:spPr>
            <a:solidFill xmlns:a="http://schemas.openxmlformats.org/drawingml/2006/main">
              <a:srgbClr val="2D6CDF"/>
            </a:solidFill>
          </c:spPr>
          <c:cat>
            <c:strRef>
              <c:f>'Chart Data'!$A$2:$A$5</c:f>
              <c:strCache>
                <c:ptCount val="4"/>
                <c:pt idx="0">
                  <c:v>View Item</c:v>
                </c:pt>
                <c:pt idx="1">
                  <c:v>Add to Cart</c:v>
                </c:pt>
                <c:pt idx="2">
                  <c:v>Checkout</c:v>
                </c:pt>
                <c:pt idx="3">
                  <c:v>Purchase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0.2128</c:v>
                </c:pt>
                <c:pt idx="1">
                  <c:v>0.0548</c:v>
                </c:pt>
                <c:pt idx="2">
                  <c:v>0.0178</c:v>
                </c:pt>
                <c:pt idx="3">
                  <c:v>0.0075</c:v>
                </c:pt>
              </c:numCache>
            </c:numRef>
          </c:val>
        </c:ser>
        <c:ser>
          <c:idx val="1"/>
          <c:order val="1"/>
          <c:tx>
            <c:v>EAU</c:v>
          </c:tx>
          <c:spPr>
            <a:solidFill xmlns:a="http://schemas.openxmlformats.org/drawingml/2006/main">
              <a:srgbClr val="0F9F8F"/>
            </a:solidFill>
          </c:spPr>
          <c:cat>
            <c:strRef>
              <c:f>'Chart Data'!$C$2:$C$5</c:f>
              <c:strCache>
                <c:ptCount val="4"/>
                <c:pt idx="0">
                  <c:v>View Item</c:v>
                </c:pt>
                <c:pt idx="1">
                  <c:v>Add to Cart</c:v>
                </c:pt>
                <c:pt idx="2">
                  <c:v>Checkout</c:v>
                </c:pt>
                <c:pt idx="3">
                  <c:v>Purchase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0.3031</c:v>
                </c:pt>
                <c:pt idx="1">
                  <c:v>0.0862</c:v>
                </c:pt>
                <c:pt idx="2">
                  <c:v>0.0339</c:v>
                </c:pt>
                <c:pt idx="3">
                  <c:v>0.0234</c:v>
                </c:pt>
              </c:numCache>
            </c:numRef>
          </c:val>
        </c:ser>
        <c:ser>
          <c:idx val="2"/>
          <c:order val="2"/>
          <c:tx>
            <c:v>RAU</c:v>
          </c:tx>
          <c:spPr>
            <a:solidFill xmlns:a="http://schemas.openxmlformats.org/drawingml/2006/main">
              <a:srgbClr val="E76F51"/>
            </a:solidFill>
          </c:spPr>
          <c:cat>
            <c:strRef>
              <c:f>'Chart Data'!$E$2:$E$5</c:f>
              <c:strCache>
                <c:ptCount val="4"/>
                <c:pt idx="0">
                  <c:v>View Item</c:v>
                </c:pt>
                <c:pt idx="1">
                  <c:v>Add to Cart</c:v>
                </c:pt>
                <c:pt idx="2">
                  <c:v>Checkout</c:v>
                </c:pt>
                <c:pt idx="3">
                  <c:v>Purchase</c:v>
                </c:pt>
              </c:strCache>
            </c:strRef>
          </c:cat>
          <c:val>
            <c:numRef>
              <c:f>'Chart Data'!$F$2:$F$5</c:f>
              <c:numCache>
                <c:formatCode>0%</c:formatCode>
                <c:ptCount val="4"/>
                <c:pt idx="0">
                  <c:v>0.4069</c:v>
                </c:pt>
                <c:pt idx="1">
                  <c:v>0.133</c:v>
                </c:pt>
                <c:pt idx="2">
                  <c:v>0.0558</c:v>
                </c:pt>
                <c:pt idx="3">
                  <c:v>0.038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A6678"/>
              </a:solidFill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Sessions</c:v>
          </c:tx>
          <c:spPr>
            <a:solidFill xmlns:a="http://schemas.openxmlformats.org/drawingml/2006/main">
              <a:srgbClr val="0F9F8F"/>
            </a:solidFill>
          </c:spPr>
          <c:cat>
            <c:strRef>
              <c:f>'Chart Data'!$A$2:$A$5</c:f>
              <c:strCache>
                <c:ptCount val="4"/>
                <c:pt idx="0">
                  <c:v>Home Landing</c:v>
                </c:pt>
                <c:pt idx="1">
                  <c:v>Reached Item List</c:v>
                </c:pt>
                <c:pt idx="2">
                  <c:v>Reached View Item</c:v>
                </c:pt>
                <c:pt idx="3">
                  <c:v>Reached Cart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46923</c:v>
                </c:pt>
                <c:pt idx="1">
                  <c:v>16909</c:v>
                </c:pt>
                <c:pt idx="2">
                  <c:v>9711</c:v>
                </c:pt>
                <c:pt idx="3">
                  <c:v>3516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Sessions</c:v>
          </c:tx>
          <c:dPt>
            <c:idx val="0"/>
            <c:spPr>
              <a:solidFill xmlns:a="http://schemas.openxmlformats.org/drawingml/2006/main">
                <a:srgbClr val="E5A100"/>
              </a:solidFill>
            </c:spPr>
          </c:dPt>
          <c:dPt>
            <c:idx val="1"/>
            <c:spPr>
              <a:solidFill xmlns:a="http://schemas.openxmlformats.org/drawingml/2006/main">
                <a:srgbClr val="0F9F8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No-exploration</c:v>
                </c:pt>
                <c:pt idx="1">
                  <c:v>Qualified Home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11562</c:v>
                </c:pt>
                <c:pt idx="1">
                  <c:v>35361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02033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holeSize val="58"/>
      </c:doughnutChart>
    </c:plotArea>
    <c:plotVisOnly val="1"/>
  </c:chart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Share of Qualified Home</c:v>
          </c:tx>
          <c:spPr>
            <a:solidFill xmlns:a="http://schemas.openxmlformats.org/drawingml/2006/main">
              <a:srgbClr val="2D6CDF"/>
            </a:solidFill>
          </c:spPr>
          <c:cat>
            <c:strRef>
              <c:f>'Chart Data'!$A$2:$A$4</c:f>
              <c:strCache>
                <c:ptCount val="3"/>
                <c:pt idx="0">
                  <c:v>home/other no view</c:v>
                </c:pt>
                <c:pt idx="1">
                  <c:v>item_list to view</c:v>
                </c:pt>
                <c:pt idx="2">
                  <c:v>item_list no view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0.5009</c:v>
                </c:pt>
                <c:pt idx="1">
                  <c:v>0.2383</c:v>
                </c:pt>
                <c:pt idx="2">
                  <c:v>0.1962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Event rate</c:v>
          </c:tx>
          <c:spPr>
            <a:solidFill xmlns:a="http://schemas.openxmlformats.org/drawingml/2006/main">
              <a:srgbClr val="E76F51"/>
            </a:solidFill>
          </c:spPr>
          <c:cat>
            <c:strRef>
              <c:f>'Chart Data'!$A$2:$A$4</c:f>
              <c:strCache>
                <c:ptCount val="3"/>
                <c:pt idx="0">
                  <c:v>scroll</c:v>
                </c:pt>
                <c:pt idx="1">
                  <c:v>view_promotion</c:v>
                </c:pt>
                <c:pt idx="2">
                  <c:v>select_promotion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0.8778</c:v>
                </c:pt>
                <c:pt idx="1">
                  <c:v>0.4312</c:v>
                </c:pt>
                <c:pt idx="2">
                  <c:v>0.001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Control</c:v>
          </c:tx>
          <c:spPr>
            <a:solidFill xmlns:a="http://schemas.openxmlformats.org/drawingml/2006/main">
              <a:srgbClr val="5A6678"/>
            </a:solidFill>
          </c:spPr>
          <c:cat>
            <c:strRef>
              <c:f>'Chart Data'!$A$2:$A$4</c:f>
              <c:strCache>
                <c:ptCount val="3"/>
                <c:pt idx="0">
                  <c:v>Home to Item List</c:v>
                </c:pt>
                <c:pt idx="1">
                  <c:v>Home to View Item</c:v>
                </c:pt>
                <c:pt idx="2">
                  <c:v>Item List to View Item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0.3573</c:v>
                </c:pt>
                <c:pt idx="1">
                  <c:v>0.2014</c:v>
                </c:pt>
                <c:pt idx="2">
                  <c:v>0.5637</c:v>
                </c:pt>
              </c:numCache>
            </c:numRef>
          </c:val>
        </c:ser>
        <c:ser>
          <c:idx val="1"/>
          <c:order val="1"/>
          <c:tx>
            <c:v>Treatment</c:v>
          </c:tx>
          <c:spPr>
            <a:solidFill xmlns:a="http://schemas.openxmlformats.org/drawingml/2006/main">
              <a:srgbClr val="2D6CDF"/>
            </a:solidFill>
          </c:spPr>
          <c:cat>
            <c:strRef>
              <c:f>'Chart Data'!$C$2:$C$4</c:f>
              <c:strCache>
                <c:ptCount val="3"/>
                <c:pt idx="0">
                  <c:v>Home to Item List</c:v>
                </c:pt>
                <c:pt idx="1">
                  <c:v>Home to View Item</c:v>
                </c:pt>
                <c:pt idx="2">
                  <c:v>Item List to View Item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0.3973</c:v>
                </c:pt>
                <c:pt idx="1">
                  <c:v>0.2268</c:v>
                </c:pt>
                <c:pt idx="2">
                  <c:v>0.571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0.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A6678"/>
              </a:solidFill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23039-04E3-49BB-91F9-C8FA720C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C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6CDF"/>
                </a:solidFill>
                <a:latin typeface="Apple SD Gothic Neo"/>
                <a:ea typeface="Apple SD Gothic Neo"/>
                <a:cs typeface="Apple SD Gothic Neo"/>
              </a:rPr>
              <a:t>Product Data Analytics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7D87E-6873-4991-ACAA-CF1B2B23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GA4 이커머스 매출 성장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DDD69-6736-499E-A72E-06F0FD87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데이터 마트 구축부터 행동 진단, 제품 가설, A/B 테스트 시뮬레이션까지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6BAFB-EA5E-4022-88F2-1626C330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952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5454C-568D-43F2-B484-3BDE716E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B8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B8A5A"/>
                </a:solidFill>
                <a:latin typeface="Apple SD Gothic Neo"/>
                <a:ea typeface="Apple SD Gothic Neo"/>
                <a:cs typeface="Apple SD Gothic Neo"/>
              </a:rPr>
              <a:t>Weekly revenue growth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C1DD2-6080-45D7-AF31-8A79660E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Business 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8C2FF-36CC-4D17-95C6-C7E73785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385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7BFE1-B727-4103-8CF7-57DA3365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718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6F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E76F51"/>
                </a:solidFill>
                <a:latin typeface="Apple SD Gothic Neo"/>
                <a:ea typeface="Apple SD Gothic Neo"/>
                <a:cs typeface="Apple SD Gothic Neo"/>
              </a:rPr>
              <a:t>Buyer CVR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D834B-06A8-49CA-8BCC-465956DC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338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Main lever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F445A-68CD-4337-8BD2-CB0CABCD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3850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0CF12-0A8B-45D4-A96E-28DBAD23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718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9F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F9F8F"/>
                </a:solidFill>
                <a:latin typeface="Apple SD Gothic Neo"/>
                <a:ea typeface="Apple SD Gothic Neo"/>
                <a:cs typeface="Apple SD Gothic Neo"/>
              </a:rPr>
              <a:t>NAU Home Landing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4EABD-07B7-47FC-ADCE-905B6CD0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338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Target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9DCCF-8C9D-44C4-ABCC-233B73EC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514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20D92-CAAC-426A-BF47-56176A8F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58918-F62F-4FFE-9854-30AB5EB1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Portfolio 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CD32D-AE5C-4106-BAF4-2010B0B6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4819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BigQuery GA4 public dataset 기반으로 event/session/order/item mart를 만들고, first-session discovery 병목을 제품 실험 질문으로 연결했다.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30849-B16A-4888-B67C-24A67682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3219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62E2AD-E0C2-4197-8245-6A0A20EA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BE95B-504D-4CBD-B0A7-E956001C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Author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18EFA-6927-4040-AEAA-C0E8F141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29200"/>
            <a:ext cx="2895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현승훈</a:t>
            </a:r>
          </a:p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Data Analyst Portfolio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07178F-4F35-479A-BB6B-279463DC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828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Dataset: bigquery-public-data.ga4_obfuscated_sample_ecommerce.events_*</a:t>
            </a:r>
          </a:p>
        </p:txBody>
      </p:sp>
    </p:spTree>
    <p:extLst>
      <p:ext uri="{BB962C8B-B14F-4D97-AF65-F5344CB8AC3E}">
        <p14:creationId xmlns:p14="http://schemas.microsoft.com/office/powerpoint/2010/main" val="14840190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A5497-AEE8-4B95-AE66-217157F8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프로젝트 개요: 주별 매출 성장을 위한 행동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2DA5D-42E8-438D-8E9F-96AC3C96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GA4 Ecommerce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D7FDD-14CB-4FB1-945F-8B8E7592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1DCFD-0BED-4870-AA53-2661E463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GA4 raw event를 분석 가능한 mart로 만들고, 매출 성장 질문을 제품 실험까지 연결했다.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99B85-71BD-4072-BAE3-B0093878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77802-508D-467D-B57F-57E645B9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70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6C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D6CDF"/>
                </a:solidFill>
                <a:latin typeface="Apple SD Gothic Neo"/>
                <a:ea typeface="Apple SD Gothic Neo"/>
                <a:cs typeface="Apple SD Gothic Neo"/>
              </a:rPr>
              <a:t>GA4 sample ecommerce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3DA02-4C00-4197-A9EE-78968364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Dataset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F7C88-D290-4536-ACC2-7A2A6EC4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5265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2D00C-DC8B-467D-88F9-757A0183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860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9F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F9F8F"/>
                </a:solidFill>
                <a:latin typeface="Apple SD Gothic Neo"/>
                <a:ea typeface="Apple SD Gothic Neo"/>
                <a:cs typeface="Apple SD Gothic Neo"/>
              </a:rPr>
              <a:t>2020.11.23-12.20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623E0-4CD8-4FEA-99E0-B1A0F055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Main period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3BD06-ACF9-4824-AFB1-AFF3FE81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1C83A-B7C6-4CC7-8721-D5BF52B5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860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6F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E76F51"/>
                </a:solidFill>
                <a:latin typeface="Apple SD Gothic Neo"/>
                <a:ea typeface="Apple SD Gothic Neo"/>
                <a:cs typeface="Apple SD Gothic Neo"/>
              </a:rPr>
              <a:t>Weekly revenue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3AC56-609E-41D6-A9F6-EB7AF99D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Business goal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E1F44-3E80-498F-BEEE-A0AD0274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708AC-EF63-4510-ABB4-64E38291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D065C-ACAB-4C16-A5BB-C9A9AABF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Why weekly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D1DBE-D7E5-4442-9ABD-0DB26D18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629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Daily는 요일과 트래픽 노이즈가 크고, monthly는 샘플 기간상 관측치가 적다. Weekly는 WAU, Buyer CVR, ARPPU를 안정적으로 비교하면서 실험 기간 산정과 연결하기 좋다.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FB39DC-E177-41B7-ABEA-A0823241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C97E17-93E1-4CEB-95D9-B6FF4D81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9F3AF9-7519-456A-BBE5-2618BCE1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Project 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503225-8B33-4894-92B1-D38EAB33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4629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Data mart 구성, revenue decomposition, cohort 선택, first-session funnel, WHY 진단, synthetic A/B test, modeled revenue opportunity까지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04A5D1-33E3-4A23-9216-0581E723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Output: 데이터 마트, 분석 SQL, metric definition, A/B simulation, 포트폴리오 슬라이드</a:t>
            </a:r>
          </a:p>
        </p:txBody>
      </p:sp>
    </p:spTree>
    <p:extLst>
      <p:ext uri="{BB962C8B-B14F-4D97-AF65-F5344CB8AC3E}">
        <p14:creationId xmlns:p14="http://schemas.microsoft.com/office/powerpoint/2010/main" val="21357600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851C2F-E80C-4B68-BEE5-4405264A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분석 기반 구축: GA4 데이터 마트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91D76-F0A5-463E-BA08-31BDFF3E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Data Mart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D52F5-64CF-49E2-B3D4-BD8A459D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00B51-FF4F-4C9A-A78F-09360DB4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3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Raw event log를 event, session, order, item grain으로 분리해 퍼널과 매출 분석 기준을 만들었다.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0BB10-7811-42A6-B9A0-41A0EC0D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2864E-6482-4D4F-8F98-BEE50021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E3667-75B2-44EA-A2EE-85E0B201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Raw GA4 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EC3D0-5FF1-448B-9EC9-37C3AF59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event_name, event_params, user_pseudo_id, items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A0D10-5A74-4DDE-898C-47A4CCED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1E9E0-1043-42E9-96F1-73EF6B8B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3D86C-3A36-4C23-9C72-E54E011D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33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Base marts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74799-DDDC-46F9-AEF2-4D672D17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574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base_f_event_wide</a:t>
            </a:r>
          </a:p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base_f_order_items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BE44F-29C4-466A-BE32-D3876E52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80439-BB04-471D-AD47-430D2401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4A023-D0A8-4B24-82A5-F948B7D9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Core marts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62BAB-4EE3-451C-871E-78002031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28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core_f_sessions</a:t>
            </a:r>
          </a:p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core_f_orders</a:t>
            </a:r>
          </a:p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core_d_items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42005-BACE-4DC0-9074-8DB557DD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2A622-200A-4CFC-A7CA-40317358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AF5344-D9B5-44C4-8C22-5B9A4506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33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Analysis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5A601-5BFA-4B09-BED9-D805D6DB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revenue, cohort, funnel, WHY, A/B 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2A27EE-929D-403C-923A-70B54D67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57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66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F75490-A8C9-43C2-B063-36F76011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57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66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3EA25C-F2EF-4A0C-94C1-5F689586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6678"/>
            </a:solidFill>
            <a:prstDash val="solid"/>
          </a:ln>
        </p:spPr>
      </p:sp>
      <p:graphicFrame>
        <p:nvGraphicFramePr>
          <p:cNvPr id="50" name=""/>
          <p:cNvGraphicFramePr/>
          <p:nvPr/>
        </p:nvGraphicFramePr>
        <p:xfrm>
          <a:off xmlns:a="http://schemas.openxmlformats.org/drawingml/2006/main" x="838200" y="3619500"/>
          <a:ext xmlns:a="http://schemas.openxmlformats.org/drawingml/2006/main" cx="10287000" cy="2000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2095500"/>
                <a:gridCol w="5715000"/>
              </a:tblGrid>
              <a:tr h="3333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Table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Grain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base_f_event_wide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 event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event_seq 기반 행동 로그</a:t>
                      </a:r>
                    </a:p>
                  </a:txBody>
                  <a:tcPr marL="66675" marR="66675" marT="47625" marB="47625"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base_f_order_items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purchase x item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item revenue와 category 분석</a:t>
                      </a:r>
                    </a:p>
                  </a:txBody>
                  <a:tcPr marL="66675" marR="66675" marT="47625" marB="47625"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core_f_sessions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 session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세션 행동과 유입 요약</a:t>
                      </a:r>
                    </a:p>
                  </a:txBody>
                  <a:tcPr marL="66675" marR="66675" marT="47625" marB="47625"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core_f_orders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 purchase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order-level revenue</a:t>
                      </a:r>
                    </a:p>
                  </a:txBody>
                  <a:tcPr marL="66675" marR="66675" marT="47625" marB="47625"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core_d_items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 item_id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 상품 dimension</a:t>
                      </a:r>
                    </a:p>
                  </a:txBody>
                  <a:tcPr marL="66675" marR="66675" marT="47625" marB="47625"/>
                </a:tc>
              </a:tr>
            </a:tbl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575E75-B029-411E-9EFE-443F3708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04900"/>
            <a:ext cx="361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0C96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D1B31F-1277-4DF2-AD73-7882BC85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219200"/>
            <a:ext cx="331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purchase_revenue는 order grain, item_revenue는 item grain으로 사용한다.</a:t>
            </a:r>
          </a:p>
        </p:txBody>
      </p:sp>
    </p:spTree>
    <p:extLst>
      <p:ext uri="{BB962C8B-B14F-4D97-AF65-F5344CB8AC3E}">
        <p14:creationId xmlns:p14="http://schemas.microsoft.com/office/powerpoint/2010/main" val="16589858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DBE4F-5BDB-466A-9814-4C8EAD42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비즈니스 목표 구조화: 주별 매출 분해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742AB-6BA1-4EAB-9030-836F09E7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Revenue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CED99-36A5-474F-B4F7-DE19152E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B56D8-EA0B-4E5C-AE55-9C15D128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9537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Weekly Revenue = WAU x Weekly Buyer CVR x ARPPU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1EA32-A9B2-48E4-9119-A2DC93F3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477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4FD3C-F5D1-40D7-B8B8-95C1EC63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811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B8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B8A5A"/>
                </a:solidFill>
                <a:latin typeface="Apple SD Gothic Neo"/>
                <a:ea typeface="Apple SD Gothic Neo"/>
                <a:cs typeface="Apple SD Gothic Neo"/>
              </a:rPr>
              <a:t>$49.5K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AD003-6E45-425B-9C54-31133D52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430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Average Weekly Revenue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e4a936509448e6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D8DC7-5797-473B-BE91-14241125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907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A1F4A-43CB-4FC4-AF97-F84EED4D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907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8C5FA-D2C9-4B4A-BEA2-AFD3F723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241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Scope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6996D-B6A6-4708-ADE5-43E7A601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47950"/>
            <a:ext cx="2533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WAU는 유입, ARPPU는 가격과 장바구니 전략에 가깝다. 이번 프로젝트는 GA4 행동로그로 직접 진단 가능한 Buyer CVR을 분석 scope로 잡았다.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A509E-A0C7-41E3-BD87-301B2E44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EFB29-6CBE-4273-86BA-D0983B13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8AAC1D-D922-4966-A065-F13BC2DF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291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Chart basis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ED3B0-7A03-49C7-848C-0AEF9F93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52950"/>
            <a:ext cx="253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각 라인은 첫 주를 100으로 둔 index다. 서로 다른 단위의 지표를 같은 축에서 비교하기 위한 표현이다.</a:t>
            </a:r>
          </a:p>
        </p:txBody>
      </p:sp>
    </p:spTree>
    <p:extLst>
      <p:ext uri="{BB962C8B-B14F-4D97-AF65-F5344CB8AC3E}">
        <p14:creationId xmlns:p14="http://schemas.microsoft.com/office/powerpoint/2010/main" val="1619986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E7928-A329-4AC5-A2BA-011EF85D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타겟 선정: 어떤 사용자를 우선 볼 것인가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C555D-BC27-49FD-A2E2-9A09C161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WHO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81DE9-F84E-45FE-A314-C91389ED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ACF01-ADDE-4358-9DC6-CF3FD1B4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0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NAU는 가장 큰 user-week pool이면서 Buyer CVR이 낮아 first-session 전환 개선 기회를 보기 좋은 대상이었다.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857250" y="1952625"/>
          <a:ext xmlns:a="http://schemas.openxmlformats.org/drawingml/2006/main" cx="6000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b76ff15f7e4e45"/>
          </a:graphicData>
        </a:graphic>
      </p:graphicFrame>
      <p:graphicFrame>
        <p:nvGraphicFramePr>
          <p:cNvPr id="14" name=""/>
          <p:cNvGraphicFramePr/>
          <p:nvPr/>
        </p:nvGraphicFramePr>
        <p:xfrm>
          <a:off xmlns:a="http://schemas.openxmlformats.org/drawingml/2006/main" x="7524750" y="2076450"/>
          <a:ext xmlns:a="http://schemas.openxmlformats.org/drawingml/2006/main" cx="3143250" cy="1619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43000"/>
                <a:gridCol w="952500"/>
                <a:gridCol w="1047750"/>
              </a:tblGrid>
              <a:tr h="40481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Segment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Share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Buyer CVR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NAU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90.4%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1.63%</a:t>
                      </a:r>
                    </a:p>
                  </a:txBody>
                  <a:tcPr marL="66675" marR="66675" marT="47625" marB="47625"/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EAU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5.7%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7.32%</a:t>
                      </a:r>
                    </a:p>
                  </a:txBody>
                  <a:tcPr marL="66675" marR="66675" marT="47625" marB="47625"/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RAU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3.9%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8.09%</a:t>
                      </a:r>
                    </a:p>
                  </a:txBody>
                  <a:tcPr marL="66675" marR="66675" marT="47625" marB="47625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E38A5-A965-42C9-A71F-290243D4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0C9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D9CC7-8653-48C2-9107-5CE3AC5C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14800"/>
            <a:ext cx="2838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NAU가 항상 더 중요하다는 뜻이 아니다. 규모가 크고 첫 세션 행동이 관측 가능해 실험 가설로 연결하기 좋은 scope다.</a:t>
            </a:r>
          </a:p>
        </p:txBody>
      </p:sp>
    </p:spTree>
    <p:extLst>
      <p:ext uri="{BB962C8B-B14F-4D97-AF65-F5344CB8AC3E}">
        <p14:creationId xmlns:p14="http://schemas.microsoft.com/office/powerpoint/2010/main" val="1897946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8CD32-6362-42ED-B827-5AECCC06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병목 진단: 신규 유저 첫 세션 퍼널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82754-A5F2-4D81-830E-4CBBF5EC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WHERE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E7E41-38F2-4217-8AE4-A1B0FC20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1CD6B-E595-41E1-ADBE-C37B9945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같은 first session 안에서 event_seq 순서를 강제해 실제 순차 퍼널을 확인했다.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23900" y="1809750"/>
          <a:ext xmlns:a="http://schemas.openxmlformats.org/drawingml/2006/main" cx="776287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4eaca71b7646e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C18FF-3164-45FD-A47F-D0405556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0"/>
            <a:ext cx="2381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3C599-1BF7-40C0-8CC4-9F417B59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0C7B8-3727-488A-AE1E-FEA578B5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383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Sequential 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1113A-00F6-4289-B73C-2345F1DC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62200"/>
            <a:ext cx="2057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same first session</a:t>
            </a:r>
          </a:p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event_seq 기준 순서 강제</a:t>
            </a:r>
          </a:p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이전 단계 이후 다음 단계 발생 시 통과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8B47C-77D6-4ECB-AE9C-100511E1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861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FF7D3-582D-497F-90D2-E138C4BC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861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6B22E-D53C-4C4F-B181-47B51DC9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Initial discovery gap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C646C-17FD-4A31-A131-44F75A2C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43350"/>
            <a:ext cx="2057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View Item 도달률</a:t>
            </a:r>
          </a:p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NAU 21.3%</a:t>
            </a:r>
          </a:p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EAU 30.3%</a:t>
            </a:r>
          </a:p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RAU 40.7%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85ABF-DE61-4A72-B467-A498FE4E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0C9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2557D-797D-472F-B0F2-CA6A5FAF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48300"/>
            <a:ext cx="579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NAU의 상대적 gap은 첫 상품 상세 진입에서 이미 크게 나타난다.</a:t>
            </a:r>
          </a:p>
        </p:txBody>
      </p:sp>
    </p:spTree>
    <p:extLst>
      <p:ext uri="{BB962C8B-B14F-4D97-AF65-F5344CB8AC3E}">
        <p14:creationId xmlns:p14="http://schemas.microsoft.com/office/powerpoint/2010/main" val="1691258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2B6B3-B42C-40C7-90B9-465D6419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진입 맥락 분석: Home Landing의 기회 영역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48109-8441-44AC-8B13-3E37E5F7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Entry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83487-0C4A-4BED-973B-EA58F0FC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1D823-66D2-4F19-85A7-E69BD6DF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Home Landing은 큰 entry context지만 View Item까지 이어지는 비율은 20.70%에 그쳤다.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904875" y="1809750"/>
          <a:ext xmlns:a="http://schemas.openxmlformats.org/drawingml/2006/main" cx="5715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493167b5ee4f9e"/>
          </a:graphicData>
        </a:graphic>
      </p:graphicFrame>
      <p:graphicFrame>
        <p:nvGraphicFramePr>
          <p:cNvPr id="14" name=""/>
          <p:cNvGraphicFramePr/>
          <p:nvPr/>
        </p:nvGraphicFramePr>
        <p:xfrm>
          <a:off xmlns:a="http://schemas.openxmlformats.org/drawingml/2006/main" x="7239000" y="1885950"/>
          <a:ext xmlns:a="http://schemas.openxmlformats.org/drawingml/2006/main" cx="371475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1000125"/>
                <a:gridCol w="1000125"/>
              </a:tblGrid>
              <a:tr h="3968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Sessions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Rate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Home Landing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46,923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100.00%</a:t>
                      </a:r>
                    </a:p>
                  </a:txBody>
                  <a:tcPr marL="66675" marR="66675" marT="47625" marB="47625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Reached Item List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16,909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36.04%</a:t>
                      </a:r>
                    </a:p>
                  </a:txBody>
                  <a:tcPr marL="66675" marR="66675" marT="47625" marB="47625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Used Search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2,593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5.53%</a:t>
                      </a:r>
                    </a:p>
                  </a:txBody>
                  <a:tcPr marL="66675" marR="66675" marT="47625" marB="47625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Reached View Item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9,711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20.70%</a:t>
                      </a:r>
                    </a:p>
                  </a:txBody>
                  <a:tcPr marL="66675" marR="66675" marT="47625" marB="47625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Cart after View Item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3,516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36.21%</a:t>
                      </a:r>
                    </a:p>
                  </a:txBody>
                  <a:tcPr marL="66675" marR="66675" marT="47625" marB="47625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4D0E6-C129-445B-9239-E88EDA07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0C9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EBBE1-F371-49B3-A6F5-86F36B9E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6725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Home에서 View Item까지의 discovery 구간을 다음 분석 대상으로 설정했다.</a:t>
            </a:r>
          </a:p>
        </p:txBody>
      </p:sp>
    </p:spTree>
    <p:extLst>
      <p:ext uri="{BB962C8B-B14F-4D97-AF65-F5344CB8AC3E}">
        <p14:creationId xmlns:p14="http://schemas.microsoft.com/office/powerpoint/2010/main" val="1212470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1F93C-1E56-4F2E-90FD-B462826F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진단 세그먼트 분리: Qualified 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9B798-2B8F-4393-868B-EE53AB1A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Diagnostic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F3834-948B-4E83-87ED-DC00C798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0CC99-4112-4D9B-A574-2383542E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3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No-exploration은 별도 engagement 문제로 분리하고, 최소 탐색 행동이 시작된 Qualified Home에서 WHY를 진단했다.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14375" y="1809750"/>
          <a:ext xmlns:a="http://schemas.openxmlformats.org/drawingml/2006/main" cx="3619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bd773460414602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953000" y="1962150"/>
          <a:ext xmlns:a="http://schemas.openxmlformats.org/drawingml/2006/main" cx="58102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ebec72575b410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60BB2-BBA7-445D-B42C-4DBE9C1E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006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0C9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6A89D-E309-46BD-862E-8732AE6A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114925"/>
            <a:ext cx="902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WHY 질문: Home에 진입한 뒤 최소한의 탐색 행동을 시작한 사용자는 왜 View Item까지 이어지지 않는가?</a:t>
            </a:r>
          </a:p>
        </p:txBody>
      </p:sp>
    </p:spTree>
    <p:extLst>
      <p:ext uri="{BB962C8B-B14F-4D97-AF65-F5344CB8AC3E}">
        <p14:creationId xmlns:p14="http://schemas.microsoft.com/office/powerpoint/2010/main" val="14050150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86C99-332B-478F-9ABE-82150C7E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원인 진단: 왜 View Item까지 이어지지 않는가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A818D-210A-4C9B-BA8F-0C9B21AA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WHY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E8B1C-6A30-487C-8C92-21AA3DEA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7305D-0C72-4B55-A6CE-DE2D9256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여러 WHY 후보를 지표 패턴으로 확인한 뒤, discovery 선택 전환 부족을 주요 후보로 좁혔다.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790700"/>
          <a:ext xmlns:a="http://schemas.openxmlformats.org/drawingml/2006/main" cx="6715125" cy="2667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76375"/>
                <a:gridCol w="3476625"/>
                <a:gridCol w="1762125"/>
              </a:tblGrid>
              <a:tr h="4445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WHY 후보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판단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특정 Source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주요 source에서 유사한 미도달 패턴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설명력 낮음</a:t>
                      </a:r>
                    </a:p>
                  </a:txBody>
                  <a:tcPr marL="66675" marR="66675" marT="47625" marB="47625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특정 Device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desktop/mobile에서 유사한 미도달 패턴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설명력 낮음</a:t>
                      </a:r>
                    </a:p>
                  </a:txBody>
                  <a:tcPr marL="66675" marR="66675" marT="47625" marB="47625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단순 이탈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scroll 87.78%, user_engagement 84.69%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설명력 낮음</a:t>
                      </a:r>
                    </a:p>
                  </a:txBody>
                  <a:tcPr marL="66675" marR="66675" marT="47625" marB="47625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비상품 목적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other page 이동 2,016 / 17,711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일부 설명</a:t>
                      </a:r>
                    </a:p>
                  </a:txBody>
                  <a:tcPr marL="66675" marR="66675" marT="47625" marB="47625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Discovery Selection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view_promotion 43.12%, select 0.10%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주요 후보</a:t>
                      </a:r>
                    </a:p>
                  </a:txBody>
                  <a:tcPr marL="66675" marR="66675" marT="47625" marB="47625"/>
                </a:tc>
              </a:tr>
            </a:tbl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858125" y="1952625"/>
          <a:ext xmlns:a="http://schemas.openxmlformats.org/drawingml/2006/main" cx="314325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520cf77747422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8A163-C54F-4352-9109-DAB895C8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05375"/>
            <a:ext cx="8477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0C9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3DCBC-0365-49D2-9F15-F8E98D41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19675"/>
            <a:ext cx="817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관측 데이터는 원인을 확정하지 않는다. 가장 설명력 있는 WHY candidate를 causal test로 넘긴다.</a:t>
            </a:r>
          </a:p>
        </p:txBody>
      </p:sp>
    </p:spTree>
    <p:extLst>
      <p:ext uri="{BB962C8B-B14F-4D97-AF65-F5344CB8AC3E}">
        <p14:creationId xmlns:p14="http://schemas.microsoft.com/office/powerpoint/2010/main" val="13369711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948936-B209-465D-8224-069A34FF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제품 가설: Discovery 진입점 강화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B4441-3E9D-46AA-B2EB-BC375DB2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Hypothesis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807DC-4DF6-4A38-A570-5357EF34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074F2-175A-4681-B5B6-D4FD305E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관측된 WHY 후보를 제품 가설과 실험 질문으로 변환했다.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BB8D4-C9F8-449E-902E-46DD3BD1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2033F-5A93-4F9E-A8A2-CD666769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B8C87-A1FA-425F-BBB2-CF2EFDC6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Observed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51761-0201-4864-8D3F-28891A6F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promotion exposure 높음</a:t>
            </a:r>
          </a:p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selection 낮음</a:t>
            </a:r>
          </a:p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selected session의 item_list/view_item 도달률 높음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D1CCA-A300-4EE5-B80C-FF3EC8A0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051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66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556A5-4C69-458D-AB59-03565B3E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086ED-D130-46AF-81C4-55DCBF56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370F7-A7E0-4A82-975B-9181348D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241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WHY Candidate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C1CC3-6125-443D-B77E-8B8CACE4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Discovery exposure에서 selection으로 이어지는 전환 부족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E0A14-7F92-4AEF-9897-042B0020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051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66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03B44-0F5A-408B-924A-9C54DEF2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357A3-25A1-49AF-BB89-244904F0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3B97A-1D3E-4092-BCCF-4ADB3C53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Product Hypothesis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3826F5-6379-4245-95AD-81062560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Home discovery entry point의 명확성/매력도를 높이면 Item List와 View Item 도달이 증가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5B5D98-BEA9-4D73-9858-D0751145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051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66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F4367-8BB7-4C9B-B553-74FEFC1B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463FC-5C75-4293-92C0-EBCB2509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29EBE3-5FA3-4BCF-934D-C7452849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241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Causal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149F5D-5E64-4950-A302-2685A544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479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A/B test로 실제 행동 변화 검증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0A5EC4-941F-4A1C-BD7C-E02CEAF3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28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0C96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BD95B0-DA4E-472A-8693-9893672B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91050"/>
            <a:ext cx="798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데이터로 UI 문제가 확정된 것이 아니다. 관측 근거를 검증 가능한 causal question으로 바꾼다.</a:t>
            </a:r>
          </a:p>
        </p:txBody>
      </p:sp>
    </p:spTree>
    <p:extLst>
      <p:ext uri="{BB962C8B-B14F-4D97-AF65-F5344CB8AC3E}">
        <p14:creationId xmlns:p14="http://schemas.microsoft.com/office/powerpoint/2010/main" val="3972728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B52F7E-CDBC-43ED-9914-0C9B52CD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실험 설계: A/B 테스트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91B22-D2BD-473D-B2C2-F0D31A38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960D9-0735-4842-A301-B779FC53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8EC85-61BE-4D3A-B3C9-F41033E1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A/B Test는 Qualified가 아니라 treatment 이전에 정의 가능한 Home Landing 전체를 ITT로 분석한다.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742950" y="1809750"/>
          <a:ext xmlns:a="http://schemas.openxmlformats.org/drawingml/2006/main" cx="4857750" cy="2000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3048000"/>
              </a:tblGrid>
              <a:tr h="400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정의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Eligibility Unit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NAU first session with Home Landing</a:t>
                      </a:r>
                    </a:p>
                  </a:txBody>
                  <a:tcPr marL="66675" marR="66675" marT="47625" marB="47625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Randomization Unit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anonymous_id</a:t>
                      </a:r>
                    </a:p>
                  </a:txBody>
                  <a:tcPr marL="66675" marR="66675" marT="47625" marB="47625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Analysis Unit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eligible Home Landing first session</a:t>
                      </a:r>
                    </a:p>
                  </a:txBody>
                  <a:tcPr marL="66675" marR="66675" marT="47625" marB="47625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Analysis Principle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ITT, all eligible sessions included</a:t>
                      </a:r>
                    </a:p>
                  </a:txBody>
                  <a:tcPr marL="66675" marR="66675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21C2A-BC9E-4256-B023-0595261C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361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2E1F7-515A-4BBD-A4D4-FE53AB8D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30CD1-3721-41C1-B791-D1312EB5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Primary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8BBDC-8C57-4212-BA4A-DF321AA5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809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Home to Item List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18119-FD98-48D3-AE91-2F3C9F7E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361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BB647-A03B-429A-8A8F-7F3F72E0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E36D0-2F0C-4F82-87F1-B2F31651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Key Secondary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43838-CD92-40D4-86D8-2EE5666A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809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Home to View Item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946BE-A36B-413D-9741-F3C302B6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361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B29CA-CFD3-4188-B4D2-E5DA20EF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8FC3E-D682-4578-86FE-F210B8A2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615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Guardrail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2055F1-5490-49A2-B887-E2FDD15E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809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Item List to View Item 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B779D9-0B18-4E73-BB45-F21E3E17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71950"/>
            <a:ext cx="361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69E65-7AF6-42A9-BA42-77436FA9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719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DE3DB-1909-4674-8BA4-F46D2A5E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Downstream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9F76F6-2D51-4DC5-A8DA-AA4B6CAD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809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Purchase Rate, Revenue per Session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FA7214-432C-4D6C-9A06-C8307FFF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485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0C9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11A6F7-59C7-486D-A13A-41DC48B7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Qualified Home은 사후 행동으로 정의되므로 실험 eligibility로 사용하지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6381002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096C4-913E-4E4F-BEBA-152D05D2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실험 결과: 가상 데이터 기반 효과 검정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C82EB-5820-4E64-859A-937EB7BF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0E39B-EEE4-42DA-8A43-FE775BA4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51478-4625-4FE4-B316-2527858D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Synthetic A/B test에서 Home discovery entry point 강화는 초기 discovery 행동을 유의하게 개선했다.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63817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087e77bc7c4b95"/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mlns:a="http://schemas.openxmlformats.org/drawingml/2006/main" x="7524750" y="1952625"/>
          <a:ext xmlns:a="http://schemas.openxmlformats.org/drawingml/2006/main" cx="3714750" cy="1762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81125"/>
                <a:gridCol w="666750"/>
                <a:gridCol w="1095375"/>
                <a:gridCol w="571500"/>
              </a:tblGrid>
              <a:tr h="44053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Lift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95% CI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p-value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Home to Item List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+3.99%p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+3.13 to +4.86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&lt; .001</a:t>
                      </a:r>
                    </a:p>
                  </a:txBody>
                  <a:tcPr marL="66675" marR="66675" marT="47625" marB="47625"/>
                </a:tc>
              </a:tr>
              <a:tr h="440531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Home to View Item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+2.54%p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+1.81 to +3.28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&lt; .001</a:t>
                      </a:r>
                    </a:p>
                  </a:txBody>
                  <a:tcPr marL="66675" marR="66675" marT="47625" marB="47625"/>
                </a:tc>
              </a:tr>
              <a:tr h="440531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Guardrail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+0.73%p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-0.71 to +2.18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Pass</a:t>
                      </a:r>
                    </a:p>
                  </a:txBody>
                  <a:tcPr marL="66675" marR="66675" marT="47625" marB="47625"/>
                </a:tc>
              </a:tr>
            </a:tbl>
          </a:graphicData>
        </a:graphic>
      </p:graphicFrame>
      <p:graphicFrame>
        <p:nvGraphicFramePr>
          <p:cNvPr id="14" name=""/>
          <p:cNvGraphicFramePr/>
          <p:nvPr/>
        </p:nvGraphicFramePr>
        <p:xfrm>
          <a:off xmlns:a="http://schemas.openxmlformats.org/drawingml/2006/main" x="7524750" y="4095750"/>
          <a:ext xmlns:a="http://schemas.openxmlformats.org/drawingml/2006/main" cx="3714750" cy="1619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1905000"/>
              </a:tblGrid>
              <a:tr h="3238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Sample plan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Baseline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36.04%</a:t>
                      </a:r>
                    </a:p>
                  </a:txBody>
                  <a:tcPr marL="66675" marR="66675" marT="47625" marB="47625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MDE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+3.50%p</a:t>
                      </a:r>
                    </a:p>
                  </a:txBody>
                  <a:tcPr marL="66675" marR="66675" marT="47625" marB="47625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Required sample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2,372 per variant</a:t>
                      </a:r>
                    </a:p>
                  </a:txBody>
                  <a:tcPr marL="66675" marR="66675" marT="47625" marB="47625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Simulation sample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24,000 per variant</a:t>
                      </a:r>
                    </a:p>
                  </a:txBody>
                  <a:tcPr marL="66675" marR="66675" marT="47625" marB="4762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33790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E8AD52-794A-4B7D-887E-37B2AF11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매출 기회 추정: Modeled Revenue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E3871-B3CB-4D99-871C-1D519BEE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D671F-B6A6-412B-8691-80FA7F8B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0BE5C-B885-4D61-8073-9FE5440B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5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초기 discovery 행동 개선이 기존 downstream 전환율로 이어진다면 전체 주 매출 기준 약 2.3%의 modeled opportunity가 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952D0-AFDF-4022-B91D-320FB612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DDC13-7D55-4A76-AAC7-35CD7A43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B67E3-D38C-4401-96B9-8B3D7D9A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6C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D6CDF"/>
                </a:solidFill>
                <a:latin typeface="Apple SD Gothic Neo"/>
                <a:ea typeface="Apple SD Gothic Neo"/>
                <a:cs typeface="Apple SD Gothic Neo"/>
              </a:rPr>
              <a:t>11,731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51C4C-2DE6-4598-B73E-0F5939F8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Weekly Home Sessions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9AB97-A4F8-41E8-9A2E-698C38DE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574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66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0E059-0C05-4A0F-A7A9-EAC17F64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336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523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x 2.54%p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00B9E-79D1-4461-920A-62D3BA8E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143125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9C1E5-CCA8-45EA-BE3B-7574D60E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143125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E7007-5533-448A-8FA7-26B52813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3812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9F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F9F8F"/>
                </a:solidFill>
                <a:latin typeface="Apple SD Gothic Neo"/>
                <a:ea typeface="Apple SD Gothic Neo"/>
                <a:cs typeface="Apple SD Gothic Neo"/>
              </a:rPr>
              <a:t>+298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DE169-99DA-44D6-9F5F-A7E87C60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7813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Additional View Item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4D68E-8FD4-45BF-A032-95ED1085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574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66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E4421-96AE-4580-B5E5-0EBD6A67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336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x 5.1%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11F020-2046-4E70-8738-E54E3309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3125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32F8E5-832E-49C3-8969-AA9B55EC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3125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52E5FB-7964-4887-AC33-665C3921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812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5A1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E5A100"/>
                </a:solidFill>
                <a:latin typeface="Apple SD Gothic Neo"/>
                <a:ea typeface="Apple SD Gothic Neo"/>
                <a:cs typeface="Apple SD Gothic Neo"/>
              </a:rPr>
              <a:t>≈ 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96B3CF-01BE-444B-B083-AE817C0C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Additional Purchases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35646-1BAE-4B91-BDA8-9ECB1433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574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66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DF4B4-E0FB-417D-B60C-D8C8C48A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336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x $75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902E0E-5F63-450F-BDBC-02ED619E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143125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E13697-0D95-4B1D-A04F-65BEE1EA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143125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8C6E7D-3367-4149-944B-157DB66E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3812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8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B8A5A"/>
                </a:solidFill>
                <a:latin typeface="Apple SD Gothic Neo"/>
                <a:ea typeface="Apple SD Gothic Neo"/>
                <a:cs typeface="Apple SD Gothic Neo"/>
              </a:rPr>
              <a:t>≈ $1.14K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666D43-458F-484E-B9E6-8CE68EEC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813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Revenue / week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7CBFF-DF8E-4D0C-B51C-D171FFEA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6574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667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A25DDA-9A9D-4CBF-A74C-7419D45F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3336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205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/ $49.5K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011D99-DE48-4275-88CC-2A48B76D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43125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7F8C96-DEE6-45E2-A457-F0576479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43125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FD53E9-9842-4F0D-8065-4A205977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76F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E76F51"/>
                </a:solidFill>
                <a:latin typeface="Apple SD Gothic Neo"/>
                <a:ea typeface="Apple SD Gothic Neo"/>
                <a:cs typeface="Apple SD Gothic Neo"/>
              </a:rPr>
              <a:t>≈ 2.3%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B7AC47-872C-4C83-B599-F6C4DC0E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813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A6678"/>
                </a:solidFill>
                <a:latin typeface="Apple SD Gothic Neo"/>
                <a:ea typeface="Apple SD Gothic Neo"/>
                <a:cs typeface="Apple SD Gothic Neo"/>
              </a:rPr>
              <a:t>of Weekly Revenue</a:t>
            </a:r>
          </a:p>
        </p:txBody>
      </p:sp>
      <p:graphicFrame>
        <p:nvGraphicFramePr>
          <p:cNvPr id="68" name=""/>
          <p:cNvGraphicFramePr/>
          <p:nvPr/>
        </p:nvGraphicFramePr>
        <p:xfrm>
          <a:off xmlns:a="http://schemas.openxmlformats.org/drawingml/2006/main" x="1333500" y="3790950"/>
          <a:ext xmlns:a="http://schemas.openxmlformats.org/drawingml/2006/main" cx="4953000" cy="1762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3238500"/>
              </a:tblGrid>
              <a:tr h="3524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Step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Calculation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Eligible sessions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46,923 / 4 = 11,731 per week</a:t>
                      </a:r>
                    </a:p>
                  </a:txBody>
                  <a:tcPr marL="66675" marR="66675" marT="47625" marB="47625"/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Additional View Item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11,731 x 2.54%p = 298</a:t>
                      </a:r>
                    </a:p>
                  </a:txBody>
                  <a:tcPr marL="66675" marR="66675" marT="47625" marB="47625"/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Revenue opportunity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298 x 5.1% x $75 = $1,140</a:t>
                      </a:r>
                    </a:p>
                  </a:txBody>
                  <a:tcPr marL="66675" marR="66675" marT="47625" marB="47625"/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Weekly revenue share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$1,140 / $49,477.5 = 2.3%</a:t>
                      </a:r>
                    </a:p>
                  </a:txBody>
                  <a:tcPr marL="66675" marR="66675" marT="47625" marB="47625"/>
                </a:tc>
              </a:tr>
            </a:tbl>
          </a:graphicData>
        </a:graphic>
      </p:graphicFrame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FBADC1-F257-44EA-8A5F-97309484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43350"/>
            <a:ext cx="4095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0C96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EB4EBA-1209-4A8A-BDF3-EE729308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057650"/>
            <a:ext cx="3790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2033"/>
                </a:solidFill>
                <a:latin typeface="Apple SD Gothic Neo"/>
                <a:ea typeface="Apple SD Gothic Neo"/>
                <a:cs typeface="Apple SD Gothic Neo"/>
              </a:rPr>
              <a:t>Impact assumption: incremental View Item users keep the observed View Item to Purchase rate and revenue per purchase. This is a directional modeled opportunity, not observed revenue uplift.</a:t>
            </a:r>
          </a:p>
        </p:txBody>
      </p:sp>
    </p:spTree>
    <p:extLst>
      <p:ext uri="{BB962C8B-B14F-4D97-AF65-F5344CB8AC3E}">
        <p14:creationId xmlns:p14="http://schemas.microsoft.com/office/powerpoint/2010/main" val="210907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2026-09-08T12:08:58.0280000Z</dcterms:created>
  <dcterms:modified xsi:type="dcterms:W3CDTF">2026-09-08T12:08:58.0280000Z</dcterms:modified>
</coreProperties>
</file>